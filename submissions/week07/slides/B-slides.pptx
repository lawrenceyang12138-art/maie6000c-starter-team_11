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36321200634ea4" /><Relationship Type="http://schemas.openxmlformats.org/officeDocument/2006/relationships/extended-properties" Target="/docProps/app.xml" Id="R91fed256591441c9" /><Relationship Type="http://schemas.openxmlformats.org/officeDocument/2006/relationships/officeDocument" Target="/ppt/presentation.xml" Id="R071e221392494f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6d201146c84569"/>
  </p:sldMasterIdLst>
  <p:notesMasterIdLst>
    <p:notesMasterId xmlns:r="http://schemas.openxmlformats.org/officeDocument/2006/relationships" r:id="R35fc2050ed8547d0"/>
  </p:notesMasterIdLst>
  <p:sldIdLst>
    <p:sldId xmlns:r="http://schemas.openxmlformats.org/officeDocument/2006/relationships" id="256" r:id="R36c609e3e84c4fa4"/>
    <p:sldId xmlns:r="http://schemas.openxmlformats.org/officeDocument/2006/relationships" id="257" r:id="R897a3ac15d1c40e0"/>
    <p:sldId xmlns:r="http://schemas.openxmlformats.org/officeDocument/2006/relationships" id="258" r:id="Rdb86b4ace77d4e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641e70b1354fae" /><Relationship Type="http://schemas.openxmlformats.org/officeDocument/2006/relationships/slideMaster" Target="/ppt/slideMasters/slideMaster1.xml" Id="R5e6d201146c84569" /><Relationship Type="http://schemas.openxmlformats.org/officeDocument/2006/relationships/notesMaster" Target="/ppt/notesMasters/notesMaster1.xml" Id="R35fc2050ed8547d0" /><Relationship Type="http://schemas.openxmlformats.org/officeDocument/2006/relationships/presProps" Target="/ppt/presProps.xml" Id="Rc92cdaf9bd7f492c" /><Relationship Type="http://schemas.openxmlformats.org/officeDocument/2006/relationships/tableStyles" Target="/ppt/tableStyles.xml" Id="Raa035734d9fc48db" /><Relationship Type="http://schemas.openxmlformats.org/officeDocument/2006/relationships/slide" Target="/ppt/slides/slide1.xml" Id="R36c609e3e84c4fa4" /><Relationship Type="http://schemas.openxmlformats.org/officeDocument/2006/relationships/slide" Target="/ppt/slides/slide2.xml" Id="R897a3ac15d1c40e0" /><Relationship Type="http://schemas.openxmlformats.org/officeDocument/2006/relationships/slide" Target="/ppt/slides/slide3.xml" Id="Rdb86b4ace77d4e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085607997640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845edb0a9c4f2d" /><Relationship Type="http://schemas.openxmlformats.org/officeDocument/2006/relationships/notesMaster" Target="/ppt/notesMasters/notesMaster1.xml" Id="Rfb31bfb1961449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98f395eab440c" /><Relationship Type="http://schemas.openxmlformats.org/officeDocument/2006/relationships/notesMaster" Target="/ppt/notesMasters/notesMaster1.xml" Id="R6943a9d50a2b43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4105f157be47c3" /><Relationship Type="http://schemas.openxmlformats.org/officeDocument/2006/relationships/notesMaster" Target="/ppt/notesMasters/notesMaster1.xml" Id="R5b2bc21b6cb6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Everything we show the user is meant to point at a page and a passage, so the page number has to be right.</a:t>
            </a:r>
          </a:p>
          <a:p xmlns:a="http://schemas.openxmlformats.org/drawingml/2006/main">
            <a:r>
              <a:t>We did not check that with our own code, because checking your own output with the same code proves nothing.</a:t>
            </a:r>
          </a:p>
          <a:p xmlns:a="http://schemas.openxmlformats.org/drawingml/2006/main">
            <a:r>
              <a:t>We used a second PDF library, one the pipeline does not use, and looked for twelve sampled passages inside the pages they claimed. All twelve agreed. We also went through all sixty-six pages at character level: no dropped glyphs and no mojibake.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evidence/pdf-quality.md, submissions/week07/m1-evidence.md, scripts/verify_page_attribution.py.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midterm we deliberately built the smallest version: three candidates, one of each type, each carrying the page and the sentence that produced it.</a:t>
            </a:r>
          </a:p>
          <a:p xmlns:a="http://schemas.openxmlformats.org/drawingml/2006/main">
            <a:r>
              <a:t>This is a rule, not a model, and we measured it. Most of the raw candidates were sentence openers.</a:t>
            </a:r>
          </a:p>
          <a:p xmlns:a="http://schemas.openxmlformats.org/drawingml/2006/main">
            <a:r>
              <a:t>About three in four of the bounded list are right. That is good enough for a list a person reviews, and we are not claiming more than that.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evidence/relation-candidates.md, scripts/check_relation_candidates.py, tests/fixtures/relations/entities.pdf.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rule output in this system can be regenerated, so it is safe to throw away. Human decisions are the exception: once a reviewer confirms or rejects a relation, recomputing it is data loss.</a:t>
            </a:r>
          </a:p>
          <a:p xmlns:a="http://schemas.openxmlformats.org/drawingml/2006/main">
            <a:r>
              <a:t>So a decision is appended with a revision number, and whoever submits one has to say which revision they were looking at. In the demo you see reviewer A confirm, reviewer B get refused, then re-read and reject, with A's original decision still in the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evidence/relation-review.md, submissions/week07/review-check.md, scripts/demo_relation_review.py.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555379ec34e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5dddb42c94b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6e76ecd9643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36950376449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07a255b4446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fd588a9684c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66BE6E-21AE-4DF0-89CC-C7450190F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A2CACE-3823-471C-9D27-F6A4BCFD63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57B58C-CCE3-46E1-9174-0DAE99313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5A8C97-F5FA-4BB7-9879-C84789C2E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BA7BEC-F4C6-4FB5-B6C3-6A22ABE3BA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EC9CD2-07BC-4CC8-ADAC-C4DDCBF8F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2BF11A-4859-4345-93C2-8614B87BC5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08FAB3-DE9D-47E5-B3CB-7C82F25965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F46C97-CA78-441F-9248-8783D14325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7E303D-96A7-4578-9DE9-5CABA45407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b2ff064e64772" /><Relationship Type="http://schemas.openxmlformats.org/officeDocument/2006/relationships/slideLayout" Target="/ppt/slideLayouts/slideLayout1.xml" Id="Rea3e7d1cf1cb4340" /><Relationship Type="http://schemas.openxmlformats.org/officeDocument/2006/relationships/slideLayout" Target="/ppt/slideLayouts/slideLayout2.xml" Id="R6a724ddf4a584d58" /><Relationship Type="http://schemas.openxmlformats.org/officeDocument/2006/relationships/slideLayout" Target="/ppt/slideLayouts/slideLayout3.xml" Id="R6a86d15f6f314e29" /><Relationship Type="http://schemas.openxmlformats.org/officeDocument/2006/relationships/slideLayout" Target="/ppt/slideLayouts/slideLayout4.xml" Id="Rc717d334e8044bcb" /><Relationship Type="http://schemas.openxmlformats.org/officeDocument/2006/relationships/slideLayout" Target="/ppt/slideLayouts/slideLayout5.xml" Id="R8b8fc3d94a594aae" /><Relationship Type="http://schemas.openxmlformats.org/officeDocument/2006/relationships/slideLayout" Target="/ppt/slideLayouts/slideLayout6.xml" Id="Ra602f813f41946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3e7d1cf1cb4340"/>
    <p:sldLayoutId xmlns:r="http://schemas.openxmlformats.org/officeDocument/2006/relationships" id="2147483650" r:id="R6a724ddf4a584d58"/>
    <p:sldLayoutId xmlns:r="http://schemas.openxmlformats.org/officeDocument/2006/relationships" id="2147483651" r:id="R6a86d15f6f314e29"/>
    <p:sldLayoutId xmlns:r="http://schemas.openxmlformats.org/officeDocument/2006/relationships" id="2147483652" r:id="Rc717d334e8044bcb"/>
    <p:sldLayoutId xmlns:r="http://schemas.openxmlformats.org/officeDocument/2006/relationships" id="2147483653" r:id="R8b8fc3d94a594aae"/>
    <p:sldLayoutId xmlns:r="http://schemas.openxmlformats.org/officeDocument/2006/relationships" id="2147483654" r:id="Ra602f813f41946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c9724f931148f6" /><Relationship Type="http://schemas.openxmlformats.org/officeDocument/2006/relationships/image" Target="/ppt/media/image.png" Id="R44f6d954383e4062" /><Relationship Type="http://schemas.openxmlformats.org/officeDocument/2006/relationships/notesSlide" Target="/ppt/notesSlides/notesSlide1.xml" Id="R2c8c889ea1f848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83b82749a490d" /><Relationship Type="http://schemas.openxmlformats.org/officeDocument/2006/relationships/notesSlide" Target="/ppt/notesSlides/notesSlide2.xml" Id="R731cd106321d4e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9006197974f15" /><Relationship Type="http://schemas.openxmlformats.org/officeDocument/2006/relationships/notesSlide" Target="/ppt/notesSlides/notesSlide3.xml" Id="Ree05be43d2f04f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AB304-9749-4D37-A071-23344B93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20618"/>
                </a:solidFill>
                <a:latin typeface="Arial"/>
                <a:ea typeface="Arial"/>
                <a:cs typeface="Arial"/>
              </a:rPr>
              <a:t>Page 7 has to be true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0E2F4-8639-4A47-A8F1-63F4ACD6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71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20618"/>
                </a:solidFill>
                <a:latin typeface="Arial"/>
                <a:ea typeface="Arial"/>
                <a:cs typeface="Arial"/>
              </a:rPr>
              <a:t>12 of 12 sampled passages agreed with a PDF library the pipeline does not use</a:t>
            </a:r>
          </a:p>
          <a:p xmlns:a="http://schemas.openxmlformats.org/drawingml/2006/main">
            <a:pPr>
              <a:defRPr sz="1575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20618"/>
                </a:solidFill>
                <a:latin typeface="Arial"/>
                <a:ea typeface="Arial"/>
                <a:cs typeface="Arial"/>
              </a:rPr>
              <a:t>66 pages scanned character by character: 0 dropped glyphs, 0 mojibake</a:t>
            </a:r>
          </a:p>
          <a:p xmlns:a="http://schemas.openxmlformats.org/drawingml/2006/main">
            <a:pPr>
              <a:defRPr sz="1575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20618"/>
                </a:solidFill>
                <a:latin typeface="Arial"/>
                <a:ea typeface="Arial"/>
                <a:cs typeface="Arial"/>
              </a:rPr>
              <a:t>The check refuses to run without a second library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08871-DED9-4B44-8065-B9A028C93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6d954383e4062"/>
          <a:stretch xmlns:a="http://schemas.openxmlformats.org/drawingml/2006/main"/>
        </p:blipFill>
        <p:spPr>
          <a:xfrm xmlns:a="http://schemas.openxmlformats.org/drawingml/2006/main">
            <a:off x="6858000" y="1072151"/>
            <a:ext cx="4648200" cy="258962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9932F-AA3B-400B-A4ED-84D65C78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4648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5556C"/>
                </a:solidFill>
                <a:latin typeface="Arial"/>
                <a:ea typeface="Arial"/>
                <a:cs typeface="Arial"/>
              </a:rPr>
              <a:t>Week 5 Lab page 6, rendered from the original PDF. The yellow box marks where our stored passage was found.</a:t>
            </a:r>
          </a:p>
        </p:txBody>
      </p:sp>
    </p:spTree>
    <p:extLst>
      <p:ext uri="{BB962C8B-B14F-4D97-AF65-F5344CB8AC3E}">
        <p14:creationId xmlns:p14="http://schemas.microsoft.com/office/powerpoint/2010/main" val="1097338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7533C-B808-49C0-90CD-E2F0E94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20618"/>
                </a:solidFill>
                <a:latin typeface="Arial"/>
                <a:ea typeface="Arial"/>
                <a:cs typeface="Arial"/>
              </a:rPr>
              <a:t>Entity candidates, each with its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5DE2A-008E-4060-B415-9E9C6C7A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20618"/>
                </a:solidFill>
                <a:latin typeface="Arial"/>
                <a:ea typeface="Arial"/>
                <a:cs typeface="Arial"/>
              </a:rPr>
              <a:t>47, 44 and 36 raw candidates on three real decks. Skipping line-initial words left 39, 38 and 33. Ranking kept ten.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D0593-2A11-4F47-AEEF-5A2EA013333C}"/>
              </a:ext>
            </a:extLst>
          </p:cNvPr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8572500" cy="2209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2857500"/>
                <a:gridCol w="2857500"/>
              </a:tblGrid>
              <a:tr h="552450"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T w="9525">
                      <a:solidFill>
                        <a:srgbClr val="E2E8F0"/>
                      </a:solidFill>
                      <a:prstDash val="solid"/>
                    </a:lnT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Candidate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T w="9525">
                      <a:solidFill>
                        <a:srgbClr val="E2E8F0"/>
                      </a:solidFill>
                      <a:prstDash val="solid"/>
                    </a:lnT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T w="9525">
                      <a:solidFill>
                        <a:srgbClr val="E2E8F0"/>
                      </a:solidFill>
                      <a:prstDash val="solid"/>
                    </a:lnT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person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Chen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File Management Assistant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Schema Design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979C5-42C0-4000-A226-14802B40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555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5556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5556C"/>
                </a:solidFill>
                <a:latin typeface="Arial"/>
                <a:ea typeface="Arial"/>
                <a:cs typeface="Arial"/>
              </a:rPr>
              <a:t>Each one carries the page and the sentence that produced it: "The File Management Assistant indexes documents. Dr. Chen reviewed the first prototype."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6A0E6-33C4-40C8-BACF-F9EF7551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20618"/>
                </a:solidFill>
                <a:latin typeface="Arial"/>
                <a:ea typeface="Arial"/>
                <a:cs typeface="Arial"/>
              </a:rPr>
              <a:t>About three in four of the kept ten are right.</a:t>
            </a:r>
          </a:p>
        </p:txBody>
      </p:sp>
    </p:spTree>
    <p:extLst>
      <p:ext uri="{BB962C8B-B14F-4D97-AF65-F5344CB8AC3E}">
        <p14:creationId xmlns:p14="http://schemas.microsoft.com/office/powerpoint/2010/main" val="281926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3128A-83B3-4039-A9C1-0C73C5F7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20618"/>
                </a:solidFill>
                <a:latin typeface="Arial"/>
                <a:ea typeface="Arial"/>
                <a:cs typeface="Arial"/>
              </a:rPr>
              <a:t>Two reviewers cannot silently overwrite each other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95E01-223F-4D82-AB69-12DDFE26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90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0206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20618"/>
                </a:solidFill>
                <a:latin typeface="Arial"/>
                <a:ea typeface="Arial"/>
                <a:cs typeface="Arial"/>
              </a:rPr>
              <a:t>Reviewer A confirms the relation at revision 1</a:t>
            </a:r>
          </a:p>
          <a:p xmlns:a="http://schemas.openxmlformats.org/drawingml/2006/main">
            <a:pPr>
              <a:defRPr sz="1575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20618"/>
                </a:solidFill>
                <a:latin typeface="Arial"/>
                <a:ea typeface="Arial"/>
                <a:cs typeface="Arial"/>
              </a:rPr>
              <a:t>Reviewer B submits against a view that is already stale and is refused</a:t>
            </a:r>
          </a:p>
          <a:p xmlns:a="http://schemas.openxmlformats.org/drawingml/2006/main">
            <a:pPr>
              <a:defRPr sz="1575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20618"/>
                </a:solidFill>
                <a:latin typeface="Arial"/>
                <a:ea typeface="Arial"/>
                <a:cs typeface="Arial"/>
              </a:rPr>
              <a:t>B re-reads, then rejects at revision 2</a:t>
            </a:r>
          </a:p>
          <a:p xmlns:a="http://schemas.openxmlformats.org/drawingml/2006/main">
            <a:pPr>
              <a:defRPr sz="1575">
                <a:solidFill>
                  <a:srgbClr val="02061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020618"/>
                </a:solidFill>
                <a:latin typeface="Arial"/>
                <a:ea typeface="Arial"/>
                <a:cs typeface="Arial"/>
              </a:rPr>
              <a:t>Revision 1 is still in the history afterwards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09107-B192-4CFE-8B33-81F4B75B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4267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44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1447E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47E6"/>
                </a:solidFill>
                <a:latin typeface="Arial"/>
                <a:ea typeface="Arial"/>
                <a:cs typeface="Arial"/>
              </a:rPr>
              <a:t>Rule results can be recomputed. A person's decision cannot, so it is appended with a revision number and never overwritten.</a:t>
            </a:r>
          </a:p>
        </p:txBody>
      </p:sp>
    </p:spTree>
    <p:extLst>
      <p:ext uri="{BB962C8B-B14F-4D97-AF65-F5344CB8AC3E}">
        <p14:creationId xmlns:p14="http://schemas.microsoft.com/office/powerpoint/2010/main" val="1706775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2026-10-15T12:29:08.7580000Z</dcterms:created>
  <dcterms:modified xsi:type="dcterms:W3CDTF">2026-10-15T12:29:08.7580000Z</dcterms:modified>
</coreProperties>
</file>